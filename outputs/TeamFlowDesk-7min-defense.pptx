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 40 秒开场。</a:t>
            </a:r>
          </a:p>
          <a:p>
            <a:r>
              <a:t>先说系统定位：给团队负责人看整体状态，不是给个人记待办。</a:t>
            </a:r>
          </a:p>
          <a:p>
            <a:r>
              <a:t>结尾自然过渡到第二页：为什么需要这个系统。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 55 秒讲这一页。</a:t>
            </a:r>
          </a:p>
          <a:p>
            <a:r>
              <a:t>强调需求来自立项文档：服务队长、项目经理、方向负责人。</a:t>
            </a:r>
          </a:p>
          <a:p>
            <a:r>
              <a:t>不要展开太久，马上进入解决方案闭环。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 60 秒。</a:t>
            </a:r>
          </a:p>
          <a:p>
            <a:r>
              <a:t>这一页是功能总览，讲每个模块只讲一句。</a:t>
            </a:r>
          </a:p>
          <a:p>
            <a:r>
              <a:t>重点落在 AI 协作和周报复盘，因为评分里 AI 协作占 20 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 55 秒。</a:t>
            </a:r>
          </a:p>
          <a:p>
            <a:r>
              <a:t>讲技术时不要念包名太久，重点说工程化：能构建、能存储、能维护。</a:t>
            </a:r>
          </a:p>
          <a:p>
            <a:r>
              <a:t>可以提一句：最终 build 是 0 警告 0 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 60 秒。</a:t>
            </a:r>
          </a:p>
          <a:p>
            <a:r>
              <a:t>这一页要主动说：AI 不替我做最终决定，我记录了人工判断和修正。</a:t>
            </a:r>
          </a:p>
          <a:p>
            <a:r>
              <a:t>功能演示时优先展示 AI 协作记录页。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 40 秒讲这一页。</a:t>
            </a:r>
          </a:p>
          <a:p>
            <a:r>
              <a:t>这一页相当于你自己的控时器。</a:t>
            </a:r>
          </a:p>
          <a:p>
            <a:r>
              <a:t>演示阶段先不要新增太多数据，重点展示已有数据和导出。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 40 秒收尾。</a:t>
            </a:r>
          </a:p>
          <a:p>
            <a:r>
              <a:t>最后一句：我最大的收获是把 AI 作为辅助工程化开发和管理判断的工具，而不是让 AI 替代最终决策。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2459787-545A-43AA-B3F3-B9A4C508F858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723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TeamFlowDesk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E6425A-2704-4A82-AA59-5CEDDC6BD8FA}"/>
              </a:ext>
            </a:extLst>
          </p:cNvPr>
          <p:cNvSpPr>
            <a:spLocks noGrp="1"/>
          </p:cNvSpPr>
          <p:nvPr/>
        </p:nvSpPr>
        <p:spPr>
          <a:xfrm>
            <a:off x="400050" y="1562100"/>
            <a:ext cx="666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0">
                <a:solidFill>
                  <a:srgbClr val="555555"/>
                </a:solidFill>
              </a:defRPr>
            </a:pPr>
            <a:r>
              <a:rPr sz="2700" b="0">
                <a:solidFill>
                  <a:srgbClr val="555555"/>
                </a:solidFill>
              </a:rPr>
              <a:t>团队运行管理工作流系统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F8625D-E1A9-4B84-8FE3-9ECE16B5ED35}"/>
              </a:ext>
            </a:extLst>
          </p:cNvPr>
          <p:cNvSpPr>
            <a:spLocks noGrp="1"/>
          </p:cNvSpPr>
          <p:nvPr/>
        </p:nvSpPr>
        <p:spPr>
          <a:xfrm>
            <a:off x="400050" y="2343150"/>
            <a:ext cx="1809750" cy="1905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EED355-188B-43B0-83DF-69816CF8DA35}"/>
              </a:ext>
            </a:extLst>
          </p:cNvPr>
          <p:cNvSpPr>
            <a:spLocks noGrp="1"/>
          </p:cNvSpPr>
          <p:nvPr/>
        </p:nvSpPr>
        <p:spPr>
          <a:xfrm>
            <a:off x="400050" y="2686050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000000"/>
                </a:solidFill>
              </a:defRPr>
            </a:pPr>
            <a:r>
              <a:rPr sz="1950" b="0">
                <a:solidFill>
                  <a:srgbClr val="000000"/>
                </a:solidFill>
              </a:rPr>
              <a:t>面向团队负责人，把项目、任务、人员、器材、AI 协作和周报复盘连成一个可追踪的管理闭环。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E82F52-5328-4CD0-B93F-89DB787A95B6}"/>
              </a:ext>
            </a:extLst>
          </p:cNvPr>
          <p:cNvSpPr>
            <a:spLocks noGrp="1"/>
          </p:cNvSpPr>
          <p:nvPr/>
        </p:nvSpPr>
        <p:spPr>
          <a:xfrm>
            <a:off x="8239125" y="685800"/>
            <a:ext cx="3143250" cy="4476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22522C-1770-4CB0-BC87-09FB2DE28F0C}"/>
              </a:ext>
            </a:extLst>
          </p:cNvPr>
          <p:cNvSpPr>
            <a:spLocks noGrp="1"/>
          </p:cNvSpPr>
          <p:nvPr/>
        </p:nvSpPr>
        <p:spPr>
          <a:xfrm>
            <a:off x="8629650" y="11049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rPr lang="zh-CN" altLang="en-US" sz="2400" b="1">
                <a:solidFill>
                  <a:srgbClr val="000000"/>
                </a:solidFill>
              </a:rPr>
              <a:t>项目介绍</a:t>
            </a:r>
            <a:endParaRPr sz="2400" b="1">
              <a:solidFill>
                <a:srgbClr val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6D7992-BFAF-4D74-B941-0414F9BE70B8}"/>
              </a:ext>
            </a:extLst>
          </p:cNvPr>
          <p:cNvSpPr>
            <a:spLocks noGrp="1"/>
          </p:cNvSpPr>
          <p:nvPr/>
        </p:nvSpPr>
        <p:spPr>
          <a:xfrm>
            <a:off x="8629650" y="1828800"/>
            <a:ext cx="23812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人工智能 1 班</a:t>
            </a:r>
          </a:p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20240282</a:t>
            </a:r>
          </a:p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杨杨文琦</a:t>
            </a:r>
          </a:p>
          <a:p>
            <a:endParaRPr sz="1800" b="0">
              <a:solidFill>
                <a:srgbClr val="222222"/>
              </a:solidFill>
            </a:endParaRPr>
          </a:p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C# / WinUI 3 / SQLite</a:t>
            </a:r>
          </a:p>
          <a:p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AI 协作与人工判断记录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B70477-F54D-475E-83F3-B83E3786CB1A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核心结论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749FCD-BBCA-4FAC-B19A-EC0C99F906D9}"/>
              </a:ext>
            </a:extLst>
          </p:cNvPr>
          <p:cNvSpPr>
            <a:spLocks noGrp="1"/>
          </p:cNvSpPr>
          <p:nvPr/>
        </p:nvSpPr>
        <p:spPr>
          <a:xfrm>
            <a:off x="400050" y="5067300"/>
            <a:ext cx="742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这个项目不是普通待办清单，而是给负责人使用的团队运行驾驶舱。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E9C911-06EC-4A4D-A18A-25261E6A32A5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TeamFlowDesk | 杨杨文琦 20240282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3723E8-EA73-4B78-9665-CD99BA61B0DD}"/>
              </a:ext>
            </a:extLst>
          </p:cNvPr>
          <p:cNvSpPr>
            <a:spLocks noGrp="1"/>
          </p:cNvSpPr>
          <p:nvPr/>
        </p:nvSpPr>
        <p:spPr>
          <a:xfrm>
            <a:off x="11315700" y="63246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4133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6A60E09-C7BF-403F-A02E-03C21F5790B6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团队管理的问题不在信息少，而在信息分散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C9C8B-4F1B-41EC-9DE9-D1485E67F3EA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</a:defRPr>
            </a:pPr>
            <a:r>
              <a:rPr lang="zh-CN" altLang="en-US" sz="1650" b="0">
                <a:solidFill>
                  <a:srgbClr val="555555"/>
                </a:solidFill>
              </a:rPr>
              <a:t>高校竞赛团队和小型项目团队的管理信息常分布在聊天、表格、文档和个人记忆里，负责人很难快速判断优先事项。</a:t>
            </a:r>
            <a:endParaRPr sz="1650" b="0">
              <a:solidFill>
                <a:srgbClr val="55555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D7B77E-7A2A-494E-8812-B0F23FDF2EF5}"/>
              </a:ext>
            </a:extLst>
          </p:cNvPr>
          <p:cNvSpPr>
            <a:spLocks noGrp="1"/>
          </p:cNvSpPr>
          <p:nvPr/>
        </p:nvSpPr>
        <p:spPr>
          <a:xfrm>
            <a:off x="400050" y="2305050"/>
            <a:ext cx="2476500" cy="2095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8D7A67-52E8-4E53-9B93-5F2268E5AD83}"/>
              </a:ext>
            </a:extLst>
          </p:cNvPr>
          <p:cNvSpPr>
            <a:spLocks noGrp="1"/>
          </p:cNvSpPr>
          <p:nvPr/>
        </p:nvSpPr>
        <p:spPr>
          <a:xfrm>
            <a:off x="628650" y="2590800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项目进度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F86851-DA77-4361-ABC4-2047C80A8B24}"/>
              </a:ext>
            </a:extLst>
          </p:cNvPr>
          <p:cNvSpPr>
            <a:spLocks noGrp="1"/>
          </p:cNvSpPr>
          <p:nvPr/>
        </p:nvSpPr>
        <p:spPr>
          <a:xfrm>
            <a:off x="628650" y="3124200"/>
            <a:ext cx="1952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目标、阶段和风险没有统一视图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885DD3-C844-48A6-82C7-210A0B614BC7}"/>
              </a:ext>
            </a:extLst>
          </p:cNvPr>
          <p:cNvSpPr>
            <a:spLocks noGrp="1"/>
          </p:cNvSpPr>
          <p:nvPr/>
        </p:nvSpPr>
        <p:spPr>
          <a:xfrm>
            <a:off x="3257550" y="2305050"/>
            <a:ext cx="2476500" cy="20955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1D23DF-2101-46A5-B72A-22C60BB60DB2}"/>
              </a:ext>
            </a:extLst>
          </p:cNvPr>
          <p:cNvSpPr>
            <a:spLocks noGrp="1"/>
          </p:cNvSpPr>
          <p:nvPr/>
        </p:nvSpPr>
        <p:spPr>
          <a:xfrm>
            <a:off x="3486150" y="2590800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任务推进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D23CC0-30A3-48DE-9016-A90E8A453126}"/>
              </a:ext>
            </a:extLst>
          </p:cNvPr>
          <p:cNvSpPr>
            <a:spLocks noGrp="1"/>
          </p:cNvSpPr>
          <p:nvPr/>
        </p:nvSpPr>
        <p:spPr>
          <a:xfrm>
            <a:off x="3486150" y="3124200"/>
            <a:ext cx="1952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负责人、截止时间和输出要求容易脱节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7C7DBE-9945-4F33-919F-0394685F07B7}"/>
              </a:ext>
            </a:extLst>
          </p:cNvPr>
          <p:cNvSpPr>
            <a:spLocks noGrp="1"/>
          </p:cNvSpPr>
          <p:nvPr/>
        </p:nvSpPr>
        <p:spPr>
          <a:xfrm>
            <a:off x="6115050" y="2305050"/>
            <a:ext cx="2476500" cy="2095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47311E-13DE-404B-BDBF-5F02E744F272}"/>
              </a:ext>
            </a:extLst>
          </p:cNvPr>
          <p:cNvSpPr>
            <a:spLocks noGrp="1"/>
          </p:cNvSpPr>
          <p:nvPr/>
        </p:nvSpPr>
        <p:spPr>
          <a:xfrm>
            <a:off x="6343650" y="2590800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人员负载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48E12B-78B2-484A-9B2D-0099F49238A5}"/>
              </a:ext>
            </a:extLst>
          </p:cNvPr>
          <p:cNvSpPr>
            <a:spLocks noGrp="1"/>
          </p:cNvSpPr>
          <p:nvPr/>
        </p:nvSpPr>
        <p:spPr>
          <a:xfrm>
            <a:off x="6343650" y="3124200"/>
            <a:ext cx="1952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成员方向、能力和任务数量缺少联动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49EE66-39CD-4155-9266-4399FA2562E9}"/>
              </a:ext>
            </a:extLst>
          </p:cNvPr>
          <p:cNvSpPr>
            <a:spLocks noGrp="1"/>
          </p:cNvSpPr>
          <p:nvPr/>
        </p:nvSpPr>
        <p:spPr>
          <a:xfrm>
            <a:off x="8972550" y="2305050"/>
            <a:ext cx="2476500" cy="2095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A824BA-C3A0-4D88-8FBC-2EFA560EB619}"/>
              </a:ext>
            </a:extLst>
          </p:cNvPr>
          <p:cNvSpPr>
            <a:spLocks noGrp="1"/>
          </p:cNvSpPr>
          <p:nvPr/>
        </p:nvSpPr>
        <p:spPr>
          <a:xfrm>
            <a:off x="9201150" y="2590800"/>
            <a:ext cx="1952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器材资源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7FD4E5-2156-47E6-B0CA-68CDA5AF0E48}"/>
              </a:ext>
            </a:extLst>
          </p:cNvPr>
          <p:cNvSpPr>
            <a:spLocks noGrp="1"/>
          </p:cNvSpPr>
          <p:nvPr/>
        </p:nvSpPr>
        <p:spPr>
          <a:xfrm>
            <a:off x="9201150" y="3124200"/>
            <a:ext cx="1952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sz="1575" b="0">
                <a:solidFill>
                  <a:srgbClr val="222222"/>
                </a:solidFill>
              </a:rPr>
              <a:t>器材状态与任务影响难以及时暴露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E4F9D0-A81E-4B0C-AC09-49220F4D22D4}"/>
              </a:ext>
            </a:extLst>
          </p:cNvPr>
          <p:cNvSpPr>
            <a:spLocks noGrp="1"/>
          </p:cNvSpPr>
          <p:nvPr/>
        </p:nvSpPr>
        <p:spPr>
          <a:xfrm>
            <a:off x="400050" y="50101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设计判断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386D59-B27F-4057-9867-6D21A50F1B9E}"/>
              </a:ext>
            </a:extLst>
          </p:cNvPr>
          <p:cNvSpPr>
            <a:spLocks noGrp="1"/>
          </p:cNvSpPr>
          <p:nvPr/>
        </p:nvSpPr>
        <p:spPr>
          <a:xfrm>
            <a:off x="400050" y="5314950"/>
            <a:ext cx="9334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0000"/>
                </a:solidFill>
              </a:defRPr>
            </a:pPr>
            <a:r>
              <a:rPr lang="zh-CN" altLang="en-US" sz="1950" b="1">
                <a:solidFill>
                  <a:srgbClr val="000000"/>
                </a:solidFill>
              </a:rPr>
              <a:t>系统采用本地私有化部署，将关键管理信息集中在同一条完整闭环中。</a:t>
            </a:r>
            <a:endParaRPr sz="1950" b="1">
              <a:solidFill>
                <a:srgbClr val="00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9BA9EE-18DD-48B7-8BFA-15E17505A87E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TeamFlowDesk | 杨杨文琦 20240282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107BC2-BF3C-4BB3-8C6D-E0AE706D4991}"/>
              </a:ext>
            </a:extLst>
          </p:cNvPr>
          <p:cNvSpPr>
            <a:spLocks noGrp="1"/>
          </p:cNvSpPr>
          <p:nvPr/>
        </p:nvSpPr>
        <p:spPr>
          <a:xfrm>
            <a:off x="11315700" y="63246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12519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D3B09FD7-9C57-4D9E-AA52-7D772D608FE9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TeamFlowDesk 用一条闭环承接核心功能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F5FC99-7B5D-4E45-B6F0-BD4B95FE7FF4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从项目目标到复盘沉淀，每个模块都不是孤立页面，而是为负责人判断当前团队状态服务。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7827B0-10E7-4268-88E3-9CBDAFC6398D}"/>
              </a:ext>
            </a:extLst>
          </p:cNvPr>
          <p:cNvSpPr>
            <a:spLocks noGrp="1"/>
          </p:cNvSpPr>
          <p:nvPr/>
        </p:nvSpPr>
        <p:spPr>
          <a:xfrm>
            <a:off x="400050" y="2343150"/>
            <a:ext cx="1562100" cy="2381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8C50F9-49D8-4B51-8ADC-E36523DE4B49}"/>
              </a:ext>
            </a:extLst>
          </p:cNvPr>
          <p:cNvSpPr>
            <a:spLocks noGrp="1"/>
          </p:cNvSpPr>
          <p:nvPr/>
        </p:nvSpPr>
        <p:spPr>
          <a:xfrm>
            <a:off x="571500" y="2552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170FD1-DC63-41E6-BF1C-A957C891BB55}"/>
              </a:ext>
            </a:extLst>
          </p:cNvPr>
          <p:cNvSpPr>
            <a:spLocks noGrp="1"/>
          </p:cNvSpPr>
          <p:nvPr/>
        </p:nvSpPr>
        <p:spPr>
          <a:xfrm>
            <a:off x="571500" y="30289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项目目标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8409AF-80F5-40EF-BD30-E20633F7C487}"/>
              </a:ext>
            </a:extLst>
          </p:cNvPr>
          <p:cNvSpPr>
            <a:spLocks noGrp="1"/>
          </p:cNvSpPr>
          <p:nvPr/>
        </p:nvSpPr>
        <p:spPr>
          <a:xfrm>
            <a:off x="571500" y="3638550"/>
            <a:ext cx="12192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记录负责人、阶段、进度、风险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C224A3-FEF8-495F-B5F5-0F4152D14041}"/>
              </a:ext>
            </a:extLst>
          </p:cNvPr>
          <p:cNvSpPr>
            <a:spLocks noGrp="1"/>
          </p:cNvSpPr>
          <p:nvPr/>
        </p:nvSpPr>
        <p:spPr>
          <a:xfrm>
            <a:off x="2286000" y="2343150"/>
            <a:ext cx="1562100" cy="2381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FEBEE1-A4D7-442F-B557-E3326009937E}"/>
              </a:ext>
            </a:extLst>
          </p:cNvPr>
          <p:cNvSpPr>
            <a:spLocks noGrp="1"/>
          </p:cNvSpPr>
          <p:nvPr/>
        </p:nvSpPr>
        <p:spPr>
          <a:xfrm>
            <a:off x="2457450" y="2552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6351DE-7690-4C56-BB7C-61712245B542}"/>
              </a:ext>
            </a:extLst>
          </p:cNvPr>
          <p:cNvSpPr>
            <a:spLocks noGrp="1"/>
          </p:cNvSpPr>
          <p:nvPr/>
        </p:nvSpPr>
        <p:spPr>
          <a:xfrm>
            <a:off x="2457450" y="30289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任务拆解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D2E2AD-DDA5-4492-8F81-ACCB575D69B0}"/>
              </a:ext>
            </a:extLst>
          </p:cNvPr>
          <p:cNvSpPr>
            <a:spLocks noGrp="1"/>
          </p:cNvSpPr>
          <p:nvPr/>
        </p:nvSpPr>
        <p:spPr>
          <a:xfrm>
            <a:off x="2457450" y="3638550"/>
            <a:ext cx="12192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明确负责人、协作者、截止时间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90B052-C8F2-44CA-BB39-0143F31DF18A}"/>
              </a:ext>
            </a:extLst>
          </p:cNvPr>
          <p:cNvSpPr>
            <a:spLocks noGrp="1"/>
          </p:cNvSpPr>
          <p:nvPr/>
        </p:nvSpPr>
        <p:spPr>
          <a:xfrm>
            <a:off x="4171950" y="2343150"/>
            <a:ext cx="1562100" cy="2381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45F237-23F3-4440-9CFB-D330B925ADB1}"/>
              </a:ext>
            </a:extLst>
          </p:cNvPr>
          <p:cNvSpPr>
            <a:spLocks noGrp="1"/>
          </p:cNvSpPr>
          <p:nvPr/>
        </p:nvSpPr>
        <p:spPr>
          <a:xfrm>
            <a:off x="4343400" y="2552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73BBF36-C710-4F0C-A2F8-177D4797CC90}"/>
              </a:ext>
            </a:extLst>
          </p:cNvPr>
          <p:cNvSpPr>
            <a:spLocks noGrp="1"/>
          </p:cNvSpPr>
          <p:nvPr/>
        </p:nvSpPr>
        <p:spPr>
          <a:xfrm>
            <a:off x="4343400" y="30289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人员调度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A6D007-9E46-4EA0-BDC7-978E3123B6E5}"/>
              </a:ext>
            </a:extLst>
          </p:cNvPr>
          <p:cNvSpPr>
            <a:spLocks noGrp="1"/>
          </p:cNvSpPr>
          <p:nvPr/>
        </p:nvSpPr>
        <p:spPr>
          <a:xfrm>
            <a:off x="4343400" y="3638550"/>
            <a:ext cx="12192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跟踪方向、能力、任务负载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168403A-A7BB-40E5-B9B7-3CDE30A26DF4}"/>
              </a:ext>
            </a:extLst>
          </p:cNvPr>
          <p:cNvSpPr>
            <a:spLocks noGrp="1"/>
          </p:cNvSpPr>
          <p:nvPr/>
        </p:nvSpPr>
        <p:spPr>
          <a:xfrm>
            <a:off x="6057900" y="2343150"/>
            <a:ext cx="1562100" cy="2381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DC5C84-CC01-4A9B-9B4A-9D83D00A4F75}"/>
              </a:ext>
            </a:extLst>
          </p:cNvPr>
          <p:cNvSpPr>
            <a:spLocks noGrp="1"/>
          </p:cNvSpPr>
          <p:nvPr/>
        </p:nvSpPr>
        <p:spPr>
          <a:xfrm>
            <a:off x="6229350" y="2552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66054DB-CD72-4861-8280-BF3A3BC32F10}"/>
              </a:ext>
            </a:extLst>
          </p:cNvPr>
          <p:cNvSpPr>
            <a:spLocks noGrp="1"/>
          </p:cNvSpPr>
          <p:nvPr/>
        </p:nvSpPr>
        <p:spPr>
          <a:xfrm>
            <a:off x="6229350" y="30289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器材保障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BD437D-46EE-4BA0-AEAD-7EEE4093198F}"/>
              </a:ext>
            </a:extLst>
          </p:cNvPr>
          <p:cNvSpPr>
            <a:spLocks noGrp="1"/>
          </p:cNvSpPr>
          <p:nvPr/>
        </p:nvSpPr>
        <p:spPr>
          <a:xfrm>
            <a:off x="6229350" y="3638550"/>
            <a:ext cx="12192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登记状态、持有人、维护记录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5685A3-E2AA-4BDE-97DF-801568E17523}"/>
              </a:ext>
            </a:extLst>
          </p:cNvPr>
          <p:cNvSpPr>
            <a:spLocks noGrp="1"/>
          </p:cNvSpPr>
          <p:nvPr/>
        </p:nvSpPr>
        <p:spPr>
          <a:xfrm>
            <a:off x="7943850" y="2343150"/>
            <a:ext cx="1562100" cy="2381250"/>
          </a:xfrm>
          <a:prstGeom prst="rect">
            <a:avLst/>
          </a:prstGeom>
          <a:solidFill>
            <a:srgbClr val="FFE7DC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5447A5-C69D-4993-BD15-EC360B049860}"/>
              </a:ext>
            </a:extLst>
          </p:cNvPr>
          <p:cNvSpPr>
            <a:spLocks noGrp="1"/>
          </p:cNvSpPr>
          <p:nvPr/>
        </p:nvSpPr>
        <p:spPr>
          <a:xfrm>
            <a:off x="8115300" y="2552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234D38-CC75-4715-94EC-EB390127E9AA}"/>
              </a:ext>
            </a:extLst>
          </p:cNvPr>
          <p:cNvSpPr>
            <a:spLocks noGrp="1"/>
          </p:cNvSpPr>
          <p:nvPr/>
        </p:nvSpPr>
        <p:spPr>
          <a:xfrm>
            <a:off x="8115300" y="30289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lang="en-US" sz="1875" b="1">
                <a:solidFill>
                  <a:srgbClr val="000000"/>
                </a:solidFill>
              </a:rPr>
              <a:t>AI </a:t>
            </a:r>
            <a:r>
              <a:rPr lang="zh-CN" altLang="en-US" sz="1875" b="1">
                <a:solidFill>
                  <a:srgbClr val="000000"/>
                </a:solidFill>
              </a:rPr>
              <a:t>协作</a:t>
            </a:r>
            <a:endParaRPr sz="1875" b="1">
              <a:solidFill>
                <a:srgbClr val="000000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790CA50-E51A-4251-B055-A670616EDB36}"/>
              </a:ext>
            </a:extLst>
          </p:cNvPr>
          <p:cNvSpPr>
            <a:spLocks noGrp="1"/>
          </p:cNvSpPr>
          <p:nvPr/>
        </p:nvSpPr>
        <p:spPr>
          <a:xfrm>
            <a:off x="8115300" y="3638550"/>
            <a:ext cx="12192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保存建议、质疑、修正、采纳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16937A0-3B16-4C88-A8D5-4D17FEDED149}"/>
              </a:ext>
            </a:extLst>
          </p:cNvPr>
          <p:cNvSpPr>
            <a:spLocks noGrp="1"/>
          </p:cNvSpPr>
          <p:nvPr/>
        </p:nvSpPr>
        <p:spPr>
          <a:xfrm>
            <a:off x="9829800" y="2343150"/>
            <a:ext cx="1562100" cy="2381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6416E6D-DD67-4FFD-A6CD-817AE25D96AC}"/>
              </a:ext>
            </a:extLst>
          </p:cNvPr>
          <p:cNvSpPr>
            <a:spLocks noGrp="1"/>
          </p:cNvSpPr>
          <p:nvPr/>
        </p:nvSpPr>
        <p:spPr>
          <a:xfrm>
            <a:off x="10001250" y="2552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8893525-0232-4273-A3CA-46C9E15E29C1}"/>
              </a:ext>
            </a:extLst>
          </p:cNvPr>
          <p:cNvSpPr>
            <a:spLocks noGrp="1"/>
          </p:cNvSpPr>
          <p:nvPr/>
        </p:nvSpPr>
        <p:spPr>
          <a:xfrm>
            <a:off x="10001250" y="3028950"/>
            <a:ext cx="1219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周报复盘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DA98963-C8F4-4BB9-9B4A-3DE78E0E7087}"/>
              </a:ext>
            </a:extLst>
          </p:cNvPr>
          <p:cNvSpPr>
            <a:spLocks noGrp="1"/>
          </p:cNvSpPr>
          <p:nvPr/>
        </p:nvSpPr>
        <p:spPr>
          <a:xfrm>
            <a:off x="10001250" y="3638550"/>
            <a:ext cx="12192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生成总结并导出过程材料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79A86AF-1382-4771-833B-3245CD8EF8F6}"/>
              </a:ext>
            </a:extLst>
          </p:cNvPr>
          <p:cNvSpPr>
            <a:spLocks noGrp="1"/>
          </p:cNvSpPr>
          <p:nvPr/>
        </p:nvSpPr>
        <p:spPr>
          <a:xfrm>
            <a:off x="400050" y="5257800"/>
            <a:ext cx="971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首页驾驶舱把这些模块重新汇总为风险项目、风险任务、成员负载和器材异常。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B98CD94-AE4F-4DFD-BB58-F275C2F5D703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TeamFlowDesk | 杨杨文琦 20240282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FDEA549-BD08-4049-BFEB-6B12039AC20B}"/>
              </a:ext>
            </a:extLst>
          </p:cNvPr>
          <p:cNvSpPr>
            <a:spLocks noGrp="1"/>
          </p:cNvSpPr>
          <p:nvPr/>
        </p:nvSpPr>
        <p:spPr>
          <a:xfrm>
            <a:off x="11315700" y="63246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8767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68EE6D3-93AB-4EFB-ABD3-61C86531B0D0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lang="zh-CN" altLang="en-US" sz="3600" b="1">
                <a:solidFill>
                  <a:srgbClr val="000000"/>
                </a:solidFill>
              </a:rPr>
              <a:t>系统架构支持稳定的本地团队管理</a:t>
            </a:r>
            <a:endParaRPr sz="3600" b="1"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38E2CE-47D5-427B-BD15-7C5C966BC7C6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</a:defRPr>
            </a:pPr>
            <a:r>
              <a:rPr lang="zh-CN" altLang="en-US" sz="1650" b="0">
                <a:solidFill>
                  <a:srgbClr val="555555"/>
                </a:solidFill>
              </a:rPr>
              <a:t>通过清晰的页面、数据与交互分层，系统保持可运行、可维护和可追踪。</a:t>
            </a:r>
            <a:endParaRPr sz="1650" b="0">
              <a:solidFill>
                <a:srgbClr val="55555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32E976-9D8E-43C3-80EF-7149C7B2A2A8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界面层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FC6246-A029-437F-98C8-679ED36EA723}"/>
              </a:ext>
            </a:extLst>
          </p:cNvPr>
          <p:cNvSpPr>
            <a:spLocks noGrp="1"/>
          </p:cNvSpPr>
          <p:nvPr/>
        </p:nvSpPr>
        <p:spPr>
          <a:xfrm>
            <a:off x="2047875" y="20955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en-US" sz="1500" b="0">
                <a:solidFill>
                  <a:srgbClr val="222222"/>
                </a:solidFill>
              </a:rPr>
              <a:t>WinUI 3 + NavigationView，</a:t>
            </a:r>
            <a:r>
              <a:rPr lang="zh-CN" altLang="en-US" sz="1500" b="0">
                <a:solidFill>
                  <a:srgbClr val="222222"/>
                </a:solidFill>
              </a:rPr>
              <a:t>八个核心页面可切换使用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24F31C-9E80-4221-A0B8-771DC0919C3C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61912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00FF3C-9650-4C55-8270-E84D43AF9611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数据层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4A3E59-57D8-4B9D-870D-8074FE46BF99}"/>
              </a:ext>
            </a:extLst>
          </p:cNvPr>
          <p:cNvSpPr>
            <a:spLocks noGrp="1"/>
          </p:cNvSpPr>
          <p:nvPr/>
        </p:nvSpPr>
        <p:spPr>
          <a:xfrm>
            <a:off x="2047875" y="29718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SQLite 本地持久化，Repository 封装增删和状态更新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39900D-5994-4897-B1FA-7AA015478ABE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10DE2B-BFD8-49CB-98F1-22F3CB9BA225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交互层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166541-FFC7-454E-B2FB-2EAD3ACC1E07}"/>
              </a:ext>
            </a:extLst>
          </p:cNvPr>
          <p:cNvSpPr>
            <a:spLocks noGrp="1"/>
          </p:cNvSpPr>
          <p:nvPr/>
        </p:nvSpPr>
        <p:spPr>
          <a:xfrm>
            <a:off x="2047875" y="38481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PageInteractionService 统一详情弹窗、按钮取对象和滚动保持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51C917-75C0-469E-BBA6-C0A0EBDC79A4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61912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3F5274-8D37-4A7B-BC3F-A27A2C89A4FE}"/>
              </a:ext>
            </a:extLst>
          </p:cNvPr>
          <p:cNvSpPr>
            <a:spLocks noGrp="1"/>
          </p:cNvSpPr>
          <p:nvPr/>
        </p:nvSpPr>
        <p:spPr>
          <a:xfrm>
            <a:off x="609600" y="472440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配置层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102140-9489-450F-8C6F-69CCDF96C287}"/>
              </a:ext>
            </a:extLst>
          </p:cNvPr>
          <p:cNvSpPr>
            <a:spLocks noGrp="1"/>
          </p:cNvSpPr>
          <p:nvPr/>
        </p:nvSpPr>
        <p:spPr>
          <a:xfrm>
            <a:off x="2047875" y="47244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AI API 配置保存在本机，不写入项目代码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01A925-6C8C-43B2-A5CF-2448FA2C73DA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61912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DC9532-F5B2-4A1A-992E-C2A0D4EE5AB7}"/>
              </a:ext>
            </a:extLst>
          </p:cNvPr>
          <p:cNvSpPr>
            <a:spLocks noGrp="1"/>
          </p:cNvSpPr>
          <p:nvPr/>
        </p:nvSpPr>
        <p:spPr>
          <a:xfrm>
            <a:off x="7477125" y="2095500"/>
            <a:ext cx="3714750" cy="29527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9441762-CADF-4CBE-8ACD-A1E782E1F0B9}"/>
              </a:ext>
            </a:extLst>
          </p:cNvPr>
          <p:cNvSpPr>
            <a:spLocks noGrp="1"/>
          </p:cNvSpPr>
          <p:nvPr/>
        </p:nvSpPr>
        <p:spPr>
          <a:xfrm>
            <a:off x="7810500" y="23812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00000"/>
                </a:solidFill>
              </a:defRPr>
            </a:pPr>
            <a:r>
              <a:rPr lang="zh-CN" altLang="en-US" sz="2250" b="1">
                <a:solidFill>
                  <a:srgbClr val="000000"/>
                </a:solidFill>
              </a:rPr>
              <a:t>交付保障</a:t>
            </a:r>
            <a:endParaRPr sz="2250" b="1">
              <a:solidFill>
                <a:srgbClr val="00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60FE796-B57A-4D89-8B14-A2EBDFBFA30C}"/>
              </a:ext>
            </a:extLst>
          </p:cNvPr>
          <p:cNvSpPr>
            <a:spLocks noGrp="1"/>
          </p:cNvSpPr>
          <p:nvPr/>
        </p:nvSpPr>
        <p:spPr>
          <a:xfrm>
            <a:off x="7810500" y="2971800"/>
            <a:ext cx="2952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zh-CN" altLang="en-US" sz="1500" b="0">
                <a:solidFill>
                  <a:srgbClr val="222222"/>
                </a:solidFill>
              </a:rPr>
              <a:t>样式资源规范化，减少跨页视觉差异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zh-CN" altLang="en-US" sz="1500" b="0">
                <a:solidFill>
                  <a:srgbClr val="222222"/>
                </a:solidFill>
              </a:rPr>
              <a:t>任务看板支持项目关联、筛选、预警与状态推进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zh-CN" altLang="en-US" sz="1500" b="0">
                <a:solidFill>
                  <a:srgbClr val="222222"/>
                </a:solidFill>
              </a:rPr>
              <a:t>周报导出与数据库备份保证过程数据可交付</a:t>
            </a:r>
          </a:p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zh-CN" altLang="en-US" sz="1500" b="0">
                <a:solidFill>
                  <a:srgbClr val="222222"/>
                </a:solidFill>
              </a:rPr>
              <a:t>依赖升级后无已知漏洞，窗口与导航完成产品化收敛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D0E8EDC-0750-436A-8927-DB90474DD00F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TeamFlowDesk | 杨杨文琦 20240282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29979B3-CBDB-4F77-BCEE-B93A86AEA4CA}"/>
              </a:ext>
            </a:extLst>
          </p:cNvPr>
          <p:cNvSpPr>
            <a:spLocks noGrp="1"/>
          </p:cNvSpPr>
          <p:nvPr/>
        </p:nvSpPr>
        <p:spPr>
          <a:xfrm>
            <a:off x="11315700" y="63246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8736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B62891D-BF63-45D3-816A-E3C483B0692F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525" b="1">
                <a:solidFill>
                  <a:srgbClr val="000000"/>
                </a:solidFill>
              </a:defRPr>
            </a:pPr>
            <a:r>
              <a:rPr lang="en-US" sz="3525" b="1">
                <a:solidFill>
                  <a:srgbClr val="000000"/>
                </a:solidFill>
              </a:rPr>
              <a:t>AI </a:t>
            </a:r>
            <a:r>
              <a:rPr lang="zh-CN" altLang="en-US" sz="3525" b="1">
                <a:solidFill>
                  <a:srgbClr val="000000"/>
                </a:solidFill>
              </a:rPr>
              <a:t>协作让管理建议可追溯、可修正</a:t>
            </a:r>
            <a:endParaRPr sz="3525" b="1"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7A0857-66E3-480B-9BE4-CDB381240972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</a:defRPr>
            </a:pPr>
            <a:r>
              <a:rPr lang="zh-CN" altLang="en-US" sz="1650" b="0">
                <a:solidFill>
                  <a:srgbClr val="555555"/>
                </a:solidFill>
              </a:rPr>
              <a:t>系统将 </a:t>
            </a:r>
            <a:r>
              <a:rPr lang="en-US" altLang="zh-CN" sz="1650" b="0">
                <a:solidFill>
                  <a:srgbClr val="555555"/>
                </a:solidFill>
              </a:rPr>
              <a:t>AI </a:t>
            </a:r>
            <a:r>
              <a:rPr lang="zh-CN" altLang="en-US" sz="1650" b="0">
                <a:solidFill>
                  <a:srgbClr val="555555"/>
                </a:solidFill>
              </a:rPr>
              <a:t>输出、人工判断、最终决策和采纳状态保存在同一条记录中，使建议的来源、修正与结果都可追溯。</a:t>
            </a:r>
            <a:endParaRPr sz="1650" b="0">
              <a:solidFill>
                <a:srgbClr val="55555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EBB28C-02AF-45EE-AFBF-B52AC2E77D5A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2190750" cy="2000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F559C4-7F6D-44E6-9306-A64A6EFAE638}"/>
              </a:ext>
            </a:extLst>
          </p:cNvPr>
          <p:cNvSpPr>
            <a:spLocks noGrp="1"/>
          </p:cNvSpPr>
          <p:nvPr/>
        </p:nvSpPr>
        <p:spPr>
          <a:xfrm>
            <a:off x="895350" y="2476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提出问题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2A6811-14AD-4DFE-AB3E-A117103839F1}"/>
              </a:ext>
            </a:extLst>
          </p:cNvPr>
          <p:cNvSpPr>
            <a:spLocks noGrp="1"/>
          </p:cNvSpPr>
          <p:nvPr/>
        </p:nvSpPr>
        <p:spPr>
          <a:xfrm>
            <a:off x="895350" y="306705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负责人描述任务拆解、风险判断或复盘场景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7DE0F8-AE25-4629-87EC-FDE08A1CF63C}"/>
              </a:ext>
            </a:extLst>
          </p:cNvPr>
          <p:cNvSpPr>
            <a:spLocks noGrp="1"/>
          </p:cNvSpPr>
          <p:nvPr/>
        </p:nvSpPr>
        <p:spPr>
          <a:xfrm>
            <a:off x="3476625" y="2190750"/>
            <a:ext cx="2190750" cy="2000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323967-5C89-441E-9B87-87AB1DB5DF4E}"/>
              </a:ext>
            </a:extLst>
          </p:cNvPr>
          <p:cNvSpPr>
            <a:spLocks noGrp="1"/>
          </p:cNvSpPr>
          <p:nvPr/>
        </p:nvSpPr>
        <p:spPr>
          <a:xfrm>
            <a:off x="3705225" y="2476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生成建议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A43919-C270-4F18-A293-70A07AC8D186}"/>
              </a:ext>
            </a:extLst>
          </p:cNvPr>
          <p:cNvSpPr>
            <a:spLocks noGrp="1"/>
          </p:cNvSpPr>
          <p:nvPr/>
        </p:nvSpPr>
        <p:spPr>
          <a:xfrm>
            <a:off x="3705225" y="306705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AI 输出结构化管理建议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97DC8C-C564-498F-8BD5-BCAF15EE9806}"/>
              </a:ext>
            </a:extLst>
          </p:cNvPr>
          <p:cNvSpPr>
            <a:spLocks noGrp="1"/>
          </p:cNvSpPr>
          <p:nvPr/>
        </p:nvSpPr>
        <p:spPr>
          <a:xfrm>
            <a:off x="6286500" y="2190750"/>
            <a:ext cx="2190750" cy="2000250"/>
          </a:xfrm>
          <a:prstGeom prst="rect">
            <a:avLst/>
          </a:prstGeom>
          <a:solidFill>
            <a:srgbClr val="FFE7DC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A327D7-3673-4172-A45A-796EE014A79E}"/>
              </a:ext>
            </a:extLst>
          </p:cNvPr>
          <p:cNvSpPr>
            <a:spLocks noGrp="1"/>
          </p:cNvSpPr>
          <p:nvPr/>
        </p:nvSpPr>
        <p:spPr>
          <a:xfrm>
            <a:off x="6515100" y="2476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人工判断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C043F6-6F7E-4F8D-9C85-FC3BA650886E}"/>
              </a:ext>
            </a:extLst>
          </p:cNvPr>
          <p:cNvSpPr>
            <a:spLocks noGrp="1"/>
          </p:cNvSpPr>
          <p:nvPr/>
        </p:nvSpPr>
        <p:spPr>
          <a:xfrm>
            <a:off x="6515100" y="306705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记录质疑、筛选、补充或修正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725A02-A892-46AB-A644-E2381465CBBF}"/>
              </a:ext>
            </a:extLst>
          </p:cNvPr>
          <p:cNvSpPr>
            <a:spLocks noGrp="1"/>
          </p:cNvSpPr>
          <p:nvPr/>
        </p:nvSpPr>
        <p:spPr>
          <a:xfrm>
            <a:off x="9096375" y="2190750"/>
            <a:ext cx="2190750" cy="2000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9A4DD8-96E5-4425-8537-ED3A1A5116CA}"/>
              </a:ext>
            </a:extLst>
          </p:cNvPr>
          <p:cNvSpPr>
            <a:spLocks noGrp="1"/>
          </p:cNvSpPr>
          <p:nvPr/>
        </p:nvSpPr>
        <p:spPr>
          <a:xfrm>
            <a:off x="9324975" y="2476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最终决策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D5B151-0F69-4BD8-94C2-0F5DCFCB8DB0}"/>
              </a:ext>
            </a:extLst>
          </p:cNvPr>
          <p:cNvSpPr>
            <a:spLocks noGrp="1"/>
          </p:cNvSpPr>
          <p:nvPr/>
        </p:nvSpPr>
        <p:spPr>
          <a:xfrm>
            <a:off x="9324975" y="306705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负责人确认管理动作并标记采纳状态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42B6E2-A230-4015-8A3A-4B1DA5A26500}"/>
              </a:ext>
            </a:extLst>
          </p:cNvPr>
          <p:cNvSpPr>
            <a:spLocks noGrp="1"/>
          </p:cNvSpPr>
          <p:nvPr/>
        </p:nvSpPr>
        <p:spPr>
          <a:xfrm>
            <a:off x="666750" y="48006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已沉淀的典型 AI 协作场景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A56AAB-1BD6-496C-8DCD-16CC86B3C62D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rPr lang="zh-CN" altLang="en-US" sz="1800" b="0">
                <a:solidFill>
                  <a:srgbClr val="000000"/>
                </a:solidFill>
              </a:rPr>
              <a:t>项目范围梳理、技术路线选择、风险优先级判断、周报草稿生成。</a:t>
            </a:r>
            <a:endParaRPr sz="1800" b="0">
              <a:solidFill>
                <a:srgbClr val="00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35F892-2BEA-457F-AE6B-515AF3AE484E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TeamFlowDesk | 杨杨文琦 20240282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34BBA57-E380-4DD1-BEFB-CB7350EAA26D}"/>
              </a:ext>
            </a:extLst>
          </p:cNvPr>
          <p:cNvSpPr>
            <a:spLocks noGrp="1"/>
          </p:cNvSpPr>
          <p:nvPr/>
        </p:nvSpPr>
        <p:spPr>
          <a:xfrm>
            <a:off x="11315700" y="63246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477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878FF853-A4B5-4138-8254-3D90DAB9ED8D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lang="zh-CN" altLang="en-US" sz="3600" b="1">
                <a:solidFill>
                  <a:srgbClr val="000000"/>
                </a:solidFill>
              </a:rPr>
              <a:t>系统以负责人工作流组织日常管理</a:t>
            </a:r>
            <a:endParaRPr sz="3600" b="1"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B68ED0-5391-4D96-8D47-049116B89345}"/>
              </a:ext>
            </a:extLst>
          </p:cNvPr>
          <p:cNvSpPr>
            <a:spLocks noGrp="1"/>
          </p:cNvSpPr>
          <p:nvPr/>
        </p:nvSpPr>
        <p:spPr>
          <a:xfrm>
            <a:off x="400050" y="1181100"/>
            <a:ext cx="857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55555"/>
                </a:solidFill>
              </a:defRPr>
            </a:pPr>
            <a:r>
              <a:rPr lang="zh-CN" altLang="en-US" sz="1725" b="0">
                <a:solidFill>
                  <a:srgbClr val="555555"/>
                </a:solidFill>
              </a:rPr>
              <a:t>从发现问题到形成记录，关键操作均在同一套本地数据中完成。</a:t>
            </a:r>
            <a:endParaRPr sz="1725" b="0">
              <a:solidFill>
                <a:srgbClr val="55555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473AE6-B79F-42D1-81CA-3F81C8486689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lang="zh-CN" altLang="en-US" sz="1500" b="1">
                <a:solidFill>
                  <a:srgbClr val="000000"/>
                </a:solidFill>
              </a:rPr>
              <a:t>发现态势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B830D1-1E5B-416B-80AD-D0F5B1EE22BB}"/>
              </a:ext>
            </a:extLst>
          </p:cNvPr>
          <p:cNvSpPr>
            <a:spLocks noGrp="1"/>
          </p:cNvSpPr>
          <p:nvPr/>
        </p:nvSpPr>
        <p:spPr>
          <a:xfrm>
            <a:off x="2428875" y="20955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lang="zh-CN" altLang="en-US" sz="1800" b="1">
                <a:solidFill>
                  <a:srgbClr val="000000"/>
                </a:solidFill>
              </a:rPr>
              <a:t>首页驾驶舱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B8806C-BA44-4C0E-89BC-BFC3D09D357C}"/>
              </a:ext>
            </a:extLst>
          </p:cNvPr>
          <p:cNvSpPr>
            <a:spLocks noGrp="1"/>
          </p:cNvSpPr>
          <p:nvPr/>
        </p:nvSpPr>
        <p:spPr>
          <a:xfrm>
            <a:off x="4286250" y="20955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lang="zh-CN" altLang="en-US" sz="1575" b="0">
                <a:solidFill>
                  <a:srgbClr val="222222"/>
                </a:solidFill>
              </a:rPr>
              <a:t>汇总项目风险、任务状态、成员负载和器材异常</a:t>
            </a:r>
            <a:endParaRPr sz="1575" b="0">
              <a:solidFill>
                <a:srgbClr val="222222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B07E7F-BA17-4C47-B614-58CCB664B1DD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98107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6C7BAA-D712-4AFE-A35A-4CE5F585B51D}"/>
              </a:ext>
            </a:extLst>
          </p:cNvPr>
          <p:cNvSpPr>
            <a:spLocks noGrp="1"/>
          </p:cNvSpPr>
          <p:nvPr/>
        </p:nvSpPr>
        <p:spPr>
          <a:xfrm>
            <a:off x="666750" y="28384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lang="zh-CN" altLang="en-US" sz="1500" b="1">
                <a:solidFill>
                  <a:srgbClr val="000000"/>
                </a:solidFill>
              </a:rPr>
              <a:t>推进任务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932015-D43D-4C5D-8BAC-16DA396A2973}"/>
              </a:ext>
            </a:extLst>
          </p:cNvPr>
          <p:cNvSpPr>
            <a:spLocks noGrp="1"/>
          </p:cNvSpPr>
          <p:nvPr/>
        </p:nvSpPr>
        <p:spPr>
          <a:xfrm>
            <a:off x="2428875" y="28384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lang="zh-CN" altLang="en-US" sz="1800" b="1">
                <a:solidFill>
                  <a:srgbClr val="000000"/>
                </a:solidFill>
              </a:rPr>
              <a:t>任务工作台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4D8E1F-256C-4892-86AF-B0686BE2C807}"/>
              </a:ext>
            </a:extLst>
          </p:cNvPr>
          <p:cNvSpPr>
            <a:spLocks noGrp="1"/>
          </p:cNvSpPr>
          <p:nvPr/>
        </p:nvSpPr>
        <p:spPr>
          <a:xfrm>
            <a:off x="4286250" y="28384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lang="zh-CN" altLang="en-US" sz="1575" b="0">
                <a:solidFill>
                  <a:srgbClr val="222222"/>
                </a:solidFill>
              </a:rPr>
              <a:t>筛选、查看详情，并按状态推动任务流转</a:t>
            </a:r>
            <a:endParaRPr sz="1575" b="0">
              <a:solidFill>
                <a:srgbClr val="222222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30A07A-5A25-4B40-8B9D-383BAB358A17}"/>
              </a:ext>
            </a:extLst>
          </p:cNvPr>
          <p:cNvSpPr>
            <a:spLocks noGrp="1"/>
          </p:cNvSpPr>
          <p:nvPr/>
        </p:nvSpPr>
        <p:spPr>
          <a:xfrm>
            <a:off x="666750" y="3314700"/>
            <a:ext cx="98107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B5D800-5F12-4349-A342-E027A1FE9706}"/>
              </a:ext>
            </a:extLst>
          </p:cNvPr>
          <p:cNvSpPr>
            <a:spLocks noGrp="1"/>
          </p:cNvSpPr>
          <p:nvPr/>
        </p:nvSpPr>
        <p:spPr>
          <a:xfrm>
            <a:off x="666750" y="35814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lang="zh-CN" altLang="en-US" sz="1500" b="1">
                <a:solidFill>
                  <a:srgbClr val="000000"/>
                </a:solidFill>
              </a:rPr>
              <a:t>辅助判断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D6F0FC-787F-442E-BC1B-2779032CBADF}"/>
              </a:ext>
            </a:extLst>
          </p:cNvPr>
          <p:cNvSpPr>
            <a:spLocks noGrp="1"/>
          </p:cNvSpPr>
          <p:nvPr/>
        </p:nvSpPr>
        <p:spPr>
          <a:xfrm>
            <a:off x="2428875" y="35814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lang="en-US" sz="1800" b="1">
                <a:solidFill>
                  <a:srgbClr val="000000"/>
                </a:solidFill>
              </a:rPr>
              <a:t>AI </a:t>
            </a:r>
            <a:r>
              <a:rPr lang="zh-CN" altLang="en-US" sz="1800" b="1">
                <a:solidFill>
                  <a:srgbClr val="000000"/>
                </a:solidFill>
              </a:rPr>
              <a:t>协作记录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AFC929-5BC4-43A4-9302-5B766D8BE81A}"/>
              </a:ext>
            </a:extLst>
          </p:cNvPr>
          <p:cNvSpPr>
            <a:spLocks noGrp="1"/>
          </p:cNvSpPr>
          <p:nvPr/>
        </p:nvSpPr>
        <p:spPr>
          <a:xfrm>
            <a:off x="4286250" y="35814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lang="zh-CN" altLang="en-US" sz="1575" b="0">
                <a:solidFill>
                  <a:srgbClr val="222222"/>
                </a:solidFill>
              </a:rPr>
              <a:t>记录 </a:t>
            </a:r>
            <a:r>
              <a:rPr lang="en-US" altLang="zh-CN" sz="1575" b="0">
                <a:solidFill>
                  <a:srgbClr val="222222"/>
                </a:solidFill>
              </a:rPr>
              <a:t>AI </a:t>
            </a:r>
            <a:r>
              <a:rPr lang="zh-CN" altLang="en-US" sz="1575" b="0">
                <a:solidFill>
                  <a:srgbClr val="222222"/>
                </a:solidFill>
              </a:rPr>
              <a:t>建议、人工判断、最终决策和采纳状态</a:t>
            </a:r>
            <a:endParaRPr sz="1575" b="0">
              <a:solidFill>
                <a:srgbClr val="222222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E79961-D0F0-4AA7-BAA5-AE7B40E78A25}"/>
              </a:ext>
            </a:extLst>
          </p:cNvPr>
          <p:cNvSpPr>
            <a:spLocks noGrp="1"/>
          </p:cNvSpPr>
          <p:nvPr/>
        </p:nvSpPr>
        <p:spPr>
          <a:xfrm>
            <a:off x="666750" y="4057650"/>
            <a:ext cx="98107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8ADF06-DBE4-464E-BBDD-E193C2898869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lang="zh-CN" altLang="en-US" sz="1500" b="1">
                <a:solidFill>
                  <a:srgbClr val="FF6B35"/>
                </a:solidFill>
              </a:rPr>
              <a:t>形成复盘</a:t>
            </a:r>
            <a:endParaRPr sz="1500" b="1">
              <a:solidFill>
                <a:srgbClr val="FF6B35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34FA15-CC43-4B0A-AFCA-0875F390C7D1}"/>
              </a:ext>
            </a:extLst>
          </p:cNvPr>
          <p:cNvSpPr>
            <a:spLocks noGrp="1"/>
          </p:cNvSpPr>
          <p:nvPr/>
        </p:nvSpPr>
        <p:spPr>
          <a:xfrm>
            <a:off x="2428875" y="43243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lang="zh-CN" altLang="en-US" sz="1800" b="1">
                <a:solidFill>
                  <a:srgbClr val="000000"/>
                </a:solidFill>
              </a:rPr>
              <a:t>周报与导出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2B325F-4C92-4AC5-B66A-03070736ED00}"/>
              </a:ext>
            </a:extLst>
          </p:cNvPr>
          <p:cNvSpPr>
            <a:spLocks noGrp="1"/>
          </p:cNvSpPr>
          <p:nvPr/>
        </p:nvSpPr>
        <p:spPr>
          <a:xfrm>
            <a:off x="4286250" y="43243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lang="zh-CN" altLang="en-US" sz="1575" b="0">
                <a:solidFill>
                  <a:srgbClr val="222222"/>
                </a:solidFill>
              </a:rPr>
              <a:t>基于当前运行数据生成周报草稿并导出 </a:t>
            </a:r>
            <a:r>
              <a:rPr lang="en-US" altLang="zh-CN" sz="1575" b="0">
                <a:solidFill>
                  <a:srgbClr val="222222"/>
                </a:solidFill>
              </a:rPr>
              <a:t>TXT</a:t>
            </a:r>
            <a:endParaRPr sz="1575" b="0">
              <a:solidFill>
                <a:srgbClr val="222222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6864ED2-DCFB-4136-8FB1-B67CC8E513C5}"/>
              </a:ext>
            </a:extLst>
          </p:cNvPr>
          <p:cNvSpPr>
            <a:spLocks noGrp="1"/>
          </p:cNvSpPr>
          <p:nvPr/>
        </p:nvSpPr>
        <p:spPr>
          <a:xfrm>
            <a:off x="666750" y="4800600"/>
            <a:ext cx="98107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E3B2BDD-EF12-42A2-98FD-EC5411AD96C5}"/>
              </a:ext>
            </a:extLst>
          </p:cNvPr>
          <p:cNvSpPr>
            <a:spLocks noGrp="1"/>
          </p:cNvSpPr>
          <p:nvPr/>
        </p:nvSpPr>
        <p:spPr>
          <a:xfrm>
            <a:off x="666750" y="50673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rPr lang="zh-CN" altLang="en-US" sz="1500" b="1">
                <a:solidFill>
                  <a:srgbClr val="000000"/>
                </a:solidFill>
              </a:rPr>
              <a:t>数据保障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8857B30-CF19-4870-AEF3-7E7338EEEB10}"/>
              </a:ext>
            </a:extLst>
          </p:cNvPr>
          <p:cNvSpPr>
            <a:spLocks noGrp="1"/>
          </p:cNvSpPr>
          <p:nvPr/>
        </p:nvSpPr>
        <p:spPr>
          <a:xfrm>
            <a:off x="2428875" y="50673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lang="zh-CN" altLang="en-US" sz="1800" b="1">
                <a:solidFill>
                  <a:srgbClr val="000000"/>
                </a:solidFill>
              </a:rPr>
              <a:t>本地备份</a:t>
            </a:r>
            <a:endParaRPr sz="1800" b="1">
              <a:solidFill>
                <a:srgbClr val="000000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A095F2-F381-409A-A829-5950405C3FE3}"/>
              </a:ext>
            </a:extLst>
          </p:cNvPr>
          <p:cNvSpPr>
            <a:spLocks noGrp="1"/>
          </p:cNvSpPr>
          <p:nvPr/>
        </p:nvSpPr>
        <p:spPr>
          <a:xfrm>
            <a:off x="4286250" y="506730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222222"/>
                </a:solidFill>
              </a:defRPr>
            </a:pPr>
            <a:r>
              <a:rPr lang="zh-CN" altLang="en-US" sz="1575" b="0">
                <a:solidFill>
                  <a:srgbClr val="222222"/>
                </a:solidFill>
              </a:rPr>
              <a:t>在系统设置中备份 </a:t>
            </a:r>
            <a:r>
              <a:rPr lang="en-US" altLang="zh-CN" sz="1575" b="0">
                <a:solidFill>
                  <a:srgbClr val="222222"/>
                </a:solidFill>
              </a:rPr>
              <a:t>SQLite </a:t>
            </a:r>
            <a:r>
              <a:rPr lang="zh-CN" altLang="en-US" sz="1575" b="0">
                <a:solidFill>
                  <a:srgbClr val="222222"/>
                </a:solidFill>
              </a:rPr>
              <a:t>数据库，保留数据副本</a:t>
            </a:r>
            <a:endParaRPr sz="1575" b="0">
              <a:solidFill>
                <a:srgbClr val="222222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49A8273-707F-464A-8D9E-A2BA4FEA47E3}"/>
              </a:ext>
            </a:extLst>
          </p:cNvPr>
          <p:cNvSpPr>
            <a:spLocks noGrp="1"/>
          </p:cNvSpPr>
          <p:nvPr/>
        </p:nvSpPr>
        <p:spPr>
          <a:xfrm>
            <a:off x="666750" y="5543550"/>
            <a:ext cx="98107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2DB032-C24B-4485-ABDD-F22000B87650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TeamFlowDesk | 杨杨文琦 20240282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3888136-E9E2-408F-8C75-6BBC935F6D9F}"/>
              </a:ext>
            </a:extLst>
          </p:cNvPr>
          <p:cNvSpPr>
            <a:spLocks noGrp="1"/>
          </p:cNvSpPr>
          <p:nvPr/>
        </p:nvSpPr>
        <p:spPr>
          <a:xfrm>
            <a:off x="11315700" y="63246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5178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FA11861A-1C60-4D6E-B60B-64F45C110309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000000"/>
                </a:solidFill>
              </a:defRPr>
            </a:pPr>
            <a:r>
              <a:rPr lang="zh-CN" altLang="en-US" sz="3900" b="1">
                <a:solidFill>
                  <a:srgbClr val="000000"/>
                </a:solidFill>
              </a:rPr>
              <a:t>项目交付成果</a:t>
            </a:r>
            <a:endParaRPr sz="3900" b="1">
              <a:solidFill>
                <a:srgbClr val="00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AF5CB7-A40E-4FBE-BF34-08E6A4BFBFF7}"/>
              </a:ext>
            </a:extLst>
          </p:cNvPr>
          <p:cNvSpPr>
            <a:spLocks noGrp="1"/>
          </p:cNvSpPr>
          <p:nvPr/>
        </p:nvSpPr>
        <p:spPr>
          <a:xfrm>
            <a:off x="514350" y="1809750"/>
            <a:ext cx="3143250" cy="1524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EFCDCF-2B23-4F9C-A26D-F138B5D1287E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00000"/>
                </a:solidFill>
              </a:defRPr>
            </a:pPr>
            <a:r>
              <a:rPr lang="zh-CN" altLang="en-US" sz="2325" b="1">
                <a:solidFill>
                  <a:srgbClr val="000000"/>
                </a:solidFill>
              </a:rPr>
              <a:t>业务闭环</a:t>
            </a:r>
            <a:endParaRPr sz="2325" b="1">
              <a:solidFill>
                <a:srgbClr val="00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1B1D02-9F5A-4372-A108-654B5611A06B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zh-CN" altLang="en-US" sz="1500" b="0">
                <a:solidFill>
                  <a:srgbClr val="222222"/>
                </a:solidFill>
              </a:rPr>
              <a:t>项目、任务、人员、器材和周报相互关联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815052-ADB5-44F8-9A8A-DE176198F9B1}"/>
              </a:ext>
            </a:extLst>
          </p:cNvPr>
          <p:cNvSpPr>
            <a:spLocks noGrp="1"/>
          </p:cNvSpPr>
          <p:nvPr/>
        </p:nvSpPr>
        <p:spPr>
          <a:xfrm>
            <a:off x="4229100" y="1809750"/>
            <a:ext cx="3143250" cy="1524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BAA864-81CB-44A7-A2B1-85594F0A4FD2}"/>
              </a:ext>
            </a:extLst>
          </p:cNvPr>
          <p:cNvSpPr>
            <a:spLocks noGrp="1"/>
          </p:cNvSpPr>
          <p:nvPr/>
        </p:nvSpPr>
        <p:spPr>
          <a:xfrm>
            <a:off x="4457700" y="20383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00000"/>
                </a:solidFill>
              </a:defRPr>
            </a:pPr>
            <a:r>
              <a:rPr lang="zh-CN" altLang="en-US" sz="2325" b="1">
                <a:solidFill>
                  <a:srgbClr val="000000"/>
                </a:solidFill>
              </a:rPr>
              <a:t>任务工作台</a:t>
            </a:r>
            <a:endParaRPr sz="2325" b="1">
              <a:solidFill>
                <a:srgbClr val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FBBD09-0CA9-4007-AF59-59527240AFB7}"/>
              </a:ext>
            </a:extLst>
          </p:cNvPr>
          <p:cNvSpPr>
            <a:spLocks noGrp="1"/>
          </p:cNvSpPr>
          <p:nvPr/>
        </p:nvSpPr>
        <p:spPr>
          <a:xfrm>
            <a:off x="4457700" y="259080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zh-CN" altLang="en-US" sz="1500" b="0">
                <a:solidFill>
                  <a:srgbClr val="222222"/>
                </a:solidFill>
              </a:rPr>
              <a:t>关联项目、状态推进、风险与时间预警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7CAB66-40AA-464F-8B02-DE28734D372F}"/>
              </a:ext>
            </a:extLst>
          </p:cNvPr>
          <p:cNvSpPr>
            <a:spLocks noGrp="1"/>
          </p:cNvSpPr>
          <p:nvPr/>
        </p:nvSpPr>
        <p:spPr>
          <a:xfrm>
            <a:off x="7943850" y="1809750"/>
            <a:ext cx="3143250" cy="1524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684952-8DE6-4CB4-8549-5F6A3E8791C2}"/>
              </a:ext>
            </a:extLst>
          </p:cNvPr>
          <p:cNvSpPr>
            <a:spLocks noGrp="1"/>
          </p:cNvSpPr>
          <p:nvPr/>
        </p:nvSpPr>
        <p:spPr>
          <a:xfrm>
            <a:off x="8172450" y="20383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00000"/>
                </a:solidFill>
              </a:defRPr>
            </a:pPr>
            <a:r>
              <a:rPr lang="zh-CN" altLang="en-US" sz="2325" b="1">
                <a:solidFill>
                  <a:srgbClr val="000000"/>
                </a:solidFill>
              </a:rPr>
              <a:t>本地数据</a:t>
            </a:r>
            <a:endParaRPr sz="2325" b="1">
              <a:solidFill>
                <a:srgbClr val="00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E758E0-9A22-474E-9862-F661A36879EB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en-US" altLang="zh-CN" sz="1500" b="0">
                <a:solidFill>
                  <a:srgbClr val="222222"/>
                </a:solidFill>
              </a:rPr>
              <a:t>SQLite </a:t>
            </a:r>
            <a:r>
              <a:rPr lang="zh-CN" altLang="en-US" sz="1500" b="0">
                <a:solidFill>
                  <a:srgbClr val="222222"/>
                </a:solidFill>
              </a:rPr>
              <a:t>持久化与时间戳备份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EC73EE-FE95-4003-AFD6-69D09A4AAB78}"/>
              </a:ext>
            </a:extLst>
          </p:cNvPr>
          <p:cNvSpPr>
            <a:spLocks noGrp="1"/>
          </p:cNvSpPr>
          <p:nvPr/>
        </p:nvSpPr>
        <p:spPr>
          <a:xfrm>
            <a:off x="514350" y="4095750"/>
            <a:ext cx="3143250" cy="1524000"/>
          </a:xfrm>
          <a:prstGeom prst="rect">
            <a:avLst/>
          </a:prstGeom>
          <a:solidFill>
            <a:srgbClr val="FFE7DC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633A28-28BA-4A30-93F0-0AC02628C6DD}"/>
              </a:ext>
            </a:extLst>
          </p:cNvPr>
          <p:cNvSpPr>
            <a:spLocks noGrp="1"/>
          </p:cNvSpPr>
          <p:nvPr/>
        </p:nvSpPr>
        <p:spPr>
          <a:xfrm>
            <a:off x="742950" y="43243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FF6B35"/>
                </a:solidFill>
              </a:defRPr>
            </a:pPr>
            <a:r>
              <a:rPr lang="en-US" sz="2325" b="1">
                <a:solidFill>
                  <a:srgbClr val="FF6B35"/>
                </a:solidFill>
              </a:rPr>
              <a:t>AI </a:t>
            </a:r>
            <a:r>
              <a:rPr lang="zh-CN" altLang="en-US" sz="2325" b="1">
                <a:solidFill>
                  <a:srgbClr val="FF6B35"/>
                </a:solidFill>
              </a:rPr>
              <a:t>协作</a:t>
            </a:r>
            <a:endParaRPr sz="2325" b="1">
              <a:solidFill>
                <a:srgbClr val="FF6B35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5E9246-1322-42BC-8104-3B022F9EC59D}"/>
              </a:ext>
            </a:extLst>
          </p:cNvPr>
          <p:cNvSpPr>
            <a:spLocks noGrp="1"/>
          </p:cNvSpPr>
          <p:nvPr/>
        </p:nvSpPr>
        <p:spPr>
          <a:xfrm>
            <a:off x="742950" y="487680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zh-CN" altLang="en-US" sz="1500" b="0">
                <a:solidFill>
                  <a:srgbClr val="222222"/>
                </a:solidFill>
              </a:rPr>
              <a:t>建议、判断、决策和采纳状态可追溯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1A750B-E46A-4B09-AAE7-6C0A904BCCB3}"/>
              </a:ext>
            </a:extLst>
          </p:cNvPr>
          <p:cNvSpPr>
            <a:spLocks noGrp="1"/>
          </p:cNvSpPr>
          <p:nvPr/>
        </p:nvSpPr>
        <p:spPr>
          <a:xfrm>
            <a:off x="4229100" y="4095750"/>
            <a:ext cx="3143250" cy="1524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0C2157-EA43-4E24-AB80-9729DC4D4E5C}"/>
              </a:ext>
            </a:extLst>
          </p:cNvPr>
          <p:cNvSpPr>
            <a:spLocks noGrp="1"/>
          </p:cNvSpPr>
          <p:nvPr/>
        </p:nvSpPr>
        <p:spPr>
          <a:xfrm>
            <a:off x="4457700" y="43243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000000"/>
                </a:solidFill>
              </a:defRPr>
            </a:pPr>
            <a:r>
              <a:rPr lang="zh-CN" altLang="en-US" sz="2325" b="1">
                <a:solidFill>
                  <a:srgbClr val="000000"/>
                </a:solidFill>
              </a:rPr>
              <a:t>过程沉淀</a:t>
            </a:r>
            <a:endParaRPr sz="2325" b="1">
              <a:solidFill>
                <a:srgbClr val="000000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A666D0-9AFF-465B-B587-72C412D4A53E}"/>
              </a:ext>
            </a:extLst>
          </p:cNvPr>
          <p:cNvSpPr>
            <a:spLocks noGrp="1"/>
          </p:cNvSpPr>
          <p:nvPr/>
        </p:nvSpPr>
        <p:spPr>
          <a:xfrm>
            <a:off x="4457700" y="487680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22222"/>
                </a:solidFill>
              </a:defRPr>
            </a:pPr>
            <a:r>
              <a:rPr lang="zh-CN" altLang="en-US" sz="1500" b="0">
                <a:solidFill>
                  <a:srgbClr val="222222"/>
                </a:solidFill>
              </a:rPr>
              <a:t>周报草稿与 </a:t>
            </a:r>
            <a:r>
              <a:rPr lang="en-US" altLang="zh-CN" sz="1500" b="0">
                <a:solidFill>
                  <a:srgbClr val="222222"/>
                </a:solidFill>
              </a:rPr>
              <a:t>TXT </a:t>
            </a:r>
            <a:r>
              <a:rPr lang="zh-CN" altLang="en-US" sz="1500" b="0">
                <a:solidFill>
                  <a:srgbClr val="222222"/>
                </a:solidFill>
              </a:rPr>
              <a:t>导出支持复盘、交接</a:t>
            </a:r>
            <a:endParaRPr sz="1500" b="0">
              <a:solidFill>
                <a:srgbClr val="222222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6E855C0-A4E1-49C6-9443-D3D39F5B763D}"/>
              </a:ext>
            </a:extLst>
          </p:cNvPr>
          <p:cNvSpPr>
            <a:spLocks noGrp="1"/>
          </p:cNvSpPr>
          <p:nvPr/>
        </p:nvSpPr>
        <p:spPr>
          <a:xfrm>
            <a:off x="4229100" y="5816600"/>
            <a:ext cx="619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rPr lang="zh-CN" altLang="en-US" sz="1500" b="1">
                <a:solidFill>
                  <a:srgbClr val="000000"/>
                </a:solidFill>
              </a:rPr>
              <a:t>面向负责人的本地团队管理工作流系统，已完成交付。</a:t>
            </a:r>
            <a:endParaRPr sz="1500" b="1">
              <a:solidFill>
                <a:srgbClr val="00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069966-BC1D-4916-B9C4-7472E390D2EF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TeamFlowDesk | 杨杨文琦 20240282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77971F-53F0-45D0-8E53-BC8FAD877210}"/>
              </a:ext>
            </a:extLst>
          </p:cNvPr>
          <p:cNvSpPr>
            <a:spLocks noGrp="1"/>
          </p:cNvSpPr>
          <p:nvPr/>
        </p:nvSpPr>
        <p:spPr>
          <a:xfrm>
            <a:off x="11315700" y="632460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59895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Microsoft Office PowerPoint</Application>
  <DocSecurity>0</DocSecurity>
  <PresentationFormat>宽屏</PresentationFormat>
  <Paragraphs>135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杨文琦 杨</cp:lastModifiedBy>
  <cp:revision>5</cp:revision>
  <dcterms:created xsi:type="dcterms:W3CDTF">2026-07-09T04:07:51Z</dcterms:created>
  <dcterms:modified xsi:type="dcterms:W3CDTF">2026-07-11T10:17:36Z</dcterms:modified>
</cp:coreProperties>
</file>